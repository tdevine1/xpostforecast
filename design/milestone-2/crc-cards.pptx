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rontend" id="{5374cc9e-da52-7ea1-b378-c947e7e7e186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Backend" id="{7d650480-2779-c669-0e4b-4e544c1446fc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 (Frontend). Implemented in frontend/src/App.jsx. Top-level component. Decides whether the user is logged in and which page to show for each URL.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ApiClient (Frontend). Implemented in frontend/src/api.js. The single, shared way the frontend talks to the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LoginPage (Frontend). Implemented in frontend/src/pages/Login.jsx. Form where a registered user logs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RegisterPage (Frontend). Implemented in frontend/src/pages/Register.jsx. Form where a visitor creates an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MapPage (Frontend). Implemented in frontend/src/pages/MapPage.jsx. Main page for logged-in users: choose a month, load its temperatures, show them on the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DateSelector (Frontend). Implemented in frontend/src/components/DateSelector.jsx. Month and year dropdowns with a Fetch Data button.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TemperatureMap (Frontend). Implemented in frontend/src/components/MapComponent.jsx. Leaflet map of West Virginia that draws one colored circle per temperature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AuthController (Backend). Implemented in backend/routes/auth.js. Handles registration, login, session checks, and logout (the /auth routes).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AuthGuard (Backend). Implemented in backend/middleware/authMiddleware.js. Checks the session before any protected route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SessionToken (Backend). Implemented in jsonwebtoken + backend/config/cookies.js. A signed token (JWT) that proves who is logged in. It travels only in an HTTP-only cookie.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 (Backend). Implemented in users table (backend/db/schema.sql). A registered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UserStore (Backend). Implemented in backend/config/database.js. Saves and finds users in Azure Database for MySQL over an encrypted connection.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TemperatureController (Backend). Implemented in backend/routes/stac.js (GET /temperature/:date). Answers requests for one month of West Virginia temperatures.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MonthLoader (Backend). Implemented in backend/routes/stac.js (loadMonth). Gets one month of NOAA nClimGrid temperatures from Microsoft Planetary Computer.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UrlSigner (Backend). Implemented in backend/sign/sign.js. Turns a Planetary Computer file address into one that can be downloaded.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TemperatureGrid (Backend). Implemented in backend/routes/stac.js (readGrid, samplePoints). The block of grid cells covering West Virginia, read from one GeoTIFF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TemperaturePoint (Backend). Implemented in objects returned by GET /temperature/:date. One grid cell's location and average temperature, ready to draw.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C Card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7295" cy="5897880"/>
          </a:xfrm>
          <a:prstGeom prst="rect">
            <a:avLst/>
          </a:prstGeom>
          <a:solidFill>
            <a:schemeClr val="bg1"/>
          </a:solidFill>
          <a:ln w="9525">
            <a:solidFill>
              <a:srgbClr val="C9D3DB"/>
            </a:solidFill>
            <a:prstDash val="solid"/>
          </a:ln>
          <a:effectLst>
            <a:outerShdw sx="100000" sy="100000" kx="0" ky="0" algn="bl" rotWithShape="0" blurRad="76200" dist="25400" dir="5400000">
              <a:srgbClr val="8A99A6">
                <a:alpha val="25000"/>
              </a:srgbClr>
            </a:outerShdw>
          </a:effectLst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566928"/>
            <a:ext cx="8412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xPostForecast · CRC Cards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5669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App</a:t>
            </a:r>
            <a:endParaRPr lang="en-US" sz="3600" dirty="0"/>
          </a:p>
        </p:txBody>
      </p:sp>
      <p:sp>
        <p:nvSpPr>
          <p:cNvPr id="3" name="Layer tag"/>
          <p:cNvSpPr/>
          <p:nvPr/>
        </p:nvSpPr>
        <p:spPr>
          <a:xfrm>
            <a:off x="9829800" y="731520"/>
            <a:ext cx="1600200" cy="4023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Layer label"/>
          <p:cNvSpPr txBox="1"/>
          <p:nvPr/>
        </p:nvSpPr>
        <p:spPr>
          <a:xfrm>
            <a:off x="9829800" y="73152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Frontend</a:t>
            </a:r>
            <a:endParaRPr lang="en-US" sz="1400" dirty="0"/>
          </a:p>
        </p:txBody>
      </p:sp>
      <p:sp>
        <p:nvSpPr>
          <p:cNvPr id="5" name="Source file"/>
          <p:cNvSpPr txBox="1"/>
          <p:nvPr/>
        </p:nvSpPr>
        <p:spPr>
          <a:xfrm>
            <a:off x="822960" y="131673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frontend/src/App.jsx</a:t>
            </a:r>
            <a:endParaRPr lang="en-US" sz="1200" dirty="0"/>
          </a:p>
        </p:txBody>
      </p:sp>
      <p:sp>
        <p:nvSpPr>
          <p:cNvPr id="6" name="Description"/>
          <p:cNvSpPr txBox="1"/>
          <p:nvPr/>
        </p:nvSpPr>
        <p:spPr>
          <a:xfrm>
            <a:off x="822960" y="168249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Top-level component. Decides whether the user is logged in and which page to show for each URL.</a:t>
            </a:r>
            <a:endParaRPr lang="en-US" sz="1600" dirty="0"/>
          </a:p>
        </p:txBody>
      </p:sp>
      <p:sp>
        <p:nvSpPr>
          <p:cNvPr id="7" name="Responsibilities heading"/>
          <p:cNvSpPr txBox="1"/>
          <p:nvPr/>
        </p:nvSpPr>
        <p:spPr>
          <a:xfrm>
            <a:off x="822960" y="2377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Responsibilities</a:t>
            </a:r>
            <a:endParaRPr lang="en-US" sz="2000" dirty="0"/>
          </a:p>
        </p:txBody>
      </p:sp>
      <p:sp>
        <p:nvSpPr>
          <p:cNvPr id="8" name="Knows heading"/>
          <p:cNvSpPr txBox="1"/>
          <p:nvPr/>
        </p:nvSpPr>
        <p:spPr>
          <a:xfrm>
            <a:off x="822960" y="28163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Knows</a:t>
            </a:r>
            <a:endParaRPr lang="en-US" sz="1400" dirty="0"/>
          </a:p>
        </p:txBody>
      </p:sp>
      <p:sp>
        <p:nvSpPr>
          <p:cNvPr id="9" name="Knows"/>
          <p:cNvSpPr txBox="1"/>
          <p:nvPr/>
        </p:nvSpPr>
        <p:spPr>
          <a:xfrm>
            <a:off x="822960" y="3127248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authenticated: whether the user is logged in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checkingAuth: whether the session check is still running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route table (/, /login, /register, /map)</a:t>
            </a:r>
            <a:endParaRPr lang="en-US" sz="1400" dirty="0"/>
          </a:p>
        </p:txBody>
      </p:sp>
      <p:sp>
        <p:nvSpPr>
          <p:cNvPr id="10" name="Does heading"/>
          <p:cNvSpPr txBox="1"/>
          <p:nvPr/>
        </p:nvSpPr>
        <p:spPr>
          <a:xfrm>
            <a:off x="4617720" y="281635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Does</a:t>
            </a:r>
            <a:endParaRPr lang="en-US" sz="1400" dirty="0"/>
          </a:p>
        </p:txBody>
      </p:sp>
      <p:sp>
        <p:nvSpPr>
          <p:cNvPr id="11" name="Does"/>
          <p:cNvSpPr txBox="1"/>
          <p:nvPr/>
        </p:nvSpPr>
        <p:spPr>
          <a:xfrm>
            <a:off x="4617720" y="3127248"/>
            <a:ext cx="4251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verifySession(): asks the server once, on page load, whether the session cookie is valid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chooseRoute(path): shows a page, or redirects (e.g. /map → /login when logged out)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setAuthenticated(value): lets pages report login and logout</a:t>
            </a:r>
            <a:endParaRPr lang="en-US" sz="1400" dirty="0"/>
          </a:p>
        </p:txBody>
      </p:sp>
      <p:sp>
        <p:nvSpPr>
          <p:cNvPr id="12" name="Collaborators panel"/>
          <p:cNvSpPr/>
          <p:nvPr/>
        </p:nvSpPr>
        <p:spPr>
          <a:xfrm>
            <a:off x="9144000" y="2377440"/>
            <a:ext cx="2286000" cy="36576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3" name="Collaborators heading"/>
          <p:cNvSpPr txBox="1"/>
          <p:nvPr/>
        </p:nvSpPr>
        <p:spPr>
          <a:xfrm>
            <a:off x="932688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Collaborators</a:t>
            </a:r>
            <a:endParaRPr lang="en-US" sz="2000" dirty="0"/>
          </a:p>
        </p:txBody>
      </p:sp>
      <p:sp>
        <p:nvSpPr>
          <p:cNvPr id="14" name="Collaborators"/>
          <p:cNvSpPr txBox="1"/>
          <p:nvPr/>
        </p:nvSpPr>
        <p:spPr>
          <a:xfrm>
            <a:off x="9326880" y="2971800"/>
            <a:ext cx="1920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ApiClient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LoginPage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RegisterPage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MapPage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5669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ApiClient</a:t>
            </a:r>
            <a:endParaRPr lang="en-US" sz="3600" dirty="0"/>
          </a:p>
        </p:txBody>
      </p:sp>
      <p:sp>
        <p:nvSpPr>
          <p:cNvPr id="3" name="Layer tag"/>
          <p:cNvSpPr/>
          <p:nvPr/>
        </p:nvSpPr>
        <p:spPr>
          <a:xfrm>
            <a:off x="9829800" y="731520"/>
            <a:ext cx="1600200" cy="4023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Layer label"/>
          <p:cNvSpPr txBox="1"/>
          <p:nvPr/>
        </p:nvSpPr>
        <p:spPr>
          <a:xfrm>
            <a:off x="9829800" y="73152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Frontend</a:t>
            </a:r>
            <a:endParaRPr lang="en-US" sz="1400" dirty="0"/>
          </a:p>
        </p:txBody>
      </p:sp>
      <p:sp>
        <p:nvSpPr>
          <p:cNvPr id="5" name="Source file"/>
          <p:cNvSpPr txBox="1"/>
          <p:nvPr/>
        </p:nvSpPr>
        <p:spPr>
          <a:xfrm>
            <a:off x="822960" y="131673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frontend/src/api.js</a:t>
            </a:r>
            <a:endParaRPr lang="en-US" sz="1200" dirty="0"/>
          </a:p>
        </p:txBody>
      </p:sp>
      <p:sp>
        <p:nvSpPr>
          <p:cNvPr id="6" name="Description"/>
          <p:cNvSpPr txBox="1"/>
          <p:nvPr/>
        </p:nvSpPr>
        <p:spPr>
          <a:xfrm>
            <a:off x="822960" y="168249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single, shared way the frontend talks to the backend.</a:t>
            </a:r>
            <a:endParaRPr lang="en-US" sz="1600" dirty="0"/>
          </a:p>
        </p:txBody>
      </p:sp>
      <p:sp>
        <p:nvSpPr>
          <p:cNvPr id="7" name="Responsibilities heading"/>
          <p:cNvSpPr txBox="1"/>
          <p:nvPr/>
        </p:nvSpPr>
        <p:spPr>
          <a:xfrm>
            <a:off x="822960" y="2377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Responsibilities</a:t>
            </a:r>
            <a:endParaRPr lang="en-US" sz="2000" dirty="0"/>
          </a:p>
        </p:txBody>
      </p:sp>
      <p:sp>
        <p:nvSpPr>
          <p:cNvPr id="8" name="Knows heading"/>
          <p:cNvSpPr txBox="1"/>
          <p:nvPr/>
        </p:nvSpPr>
        <p:spPr>
          <a:xfrm>
            <a:off x="822960" y="28163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Knows</a:t>
            </a:r>
            <a:endParaRPr lang="en-US" sz="1400" dirty="0"/>
          </a:p>
        </p:txBody>
      </p:sp>
      <p:sp>
        <p:nvSpPr>
          <p:cNvPr id="9" name="Knows"/>
          <p:cNvSpPr txBox="1"/>
          <p:nvPr/>
        </p:nvSpPr>
        <p:spPr>
          <a:xfrm>
            <a:off x="822960" y="3127248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baseUrl: the backend's address (VITE_BACKEND_API_URL)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withCredentials: always send the session cookie</a:t>
            </a:r>
            <a:endParaRPr lang="en-US" sz="1400" dirty="0"/>
          </a:p>
        </p:txBody>
      </p:sp>
      <p:sp>
        <p:nvSpPr>
          <p:cNvPr id="10" name="Does heading"/>
          <p:cNvSpPr txBox="1"/>
          <p:nvPr/>
        </p:nvSpPr>
        <p:spPr>
          <a:xfrm>
            <a:off x="4617720" y="281635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Does</a:t>
            </a:r>
            <a:endParaRPr lang="en-US" sz="1400" dirty="0"/>
          </a:p>
        </p:txBody>
      </p:sp>
      <p:sp>
        <p:nvSpPr>
          <p:cNvPr id="11" name="Does"/>
          <p:cNvSpPr txBox="1"/>
          <p:nvPr/>
        </p:nvSpPr>
        <p:spPr>
          <a:xfrm>
            <a:off x="4617720" y="3127248"/>
            <a:ext cx="4251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get(path): sends a GET request and returns the response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post(path, body): sends a POST request and returns the response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reports HTTP errors and "server unreachable" to the caller</a:t>
            </a:r>
            <a:endParaRPr lang="en-US" sz="1400" dirty="0"/>
          </a:p>
        </p:txBody>
      </p:sp>
      <p:sp>
        <p:nvSpPr>
          <p:cNvPr id="12" name="Collaborators panel"/>
          <p:cNvSpPr/>
          <p:nvPr/>
        </p:nvSpPr>
        <p:spPr>
          <a:xfrm>
            <a:off x="9144000" y="2377440"/>
            <a:ext cx="2286000" cy="36576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3" name="Collaborators heading"/>
          <p:cNvSpPr txBox="1"/>
          <p:nvPr/>
        </p:nvSpPr>
        <p:spPr>
          <a:xfrm>
            <a:off x="932688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Collaborators</a:t>
            </a:r>
            <a:endParaRPr lang="en-US" sz="2000" dirty="0"/>
          </a:p>
        </p:txBody>
      </p:sp>
      <p:sp>
        <p:nvSpPr>
          <p:cNvPr id="14" name="Collaborators"/>
          <p:cNvSpPr txBox="1"/>
          <p:nvPr/>
        </p:nvSpPr>
        <p:spPr>
          <a:xfrm>
            <a:off x="9326880" y="2971800"/>
            <a:ext cx="1920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AuthController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TemperatureController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5669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LoginPage</a:t>
            </a:r>
            <a:endParaRPr lang="en-US" sz="3600" dirty="0"/>
          </a:p>
        </p:txBody>
      </p:sp>
      <p:sp>
        <p:nvSpPr>
          <p:cNvPr id="3" name="Layer tag"/>
          <p:cNvSpPr/>
          <p:nvPr/>
        </p:nvSpPr>
        <p:spPr>
          <a:xfrm>
            <a:off x="9829800" y="731520"/>
            <a:ext cx="1600200" cy="4023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Layer label"/>
          <p:cNvSpPr txBox="1"/>
          <p:nvPr/>
        </p:nvSpPr>
        <p:spPr>
          <a:xfrm>
            <a:off x="9829800" y="73152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Frontend</a:t>
            </a:r>
            <a:endParaRPr lang="en-US" sz="1400" dirty="0"/>
          </a:p>
        </p:txBody>
      </p:sp>
      <p:sp>
        <p:nvSpPr>
          <p:cNvPr id="5" name="Source file"/>
          <p:cNvSpPr txBox="1"/>
          <p:nvPr/>
        </p:nvSpPr>
        <p:spPr>
          <a:xfrm>
            <a:off x="822960" y="131673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frontend/src/pages/Login.jsx</a:t>
            </a:r>
            <a:endParaRPr lang="en-US" sz="1200" dirty="0"/>
          </a:p>
        </p:txBody>
      </p:sp>
      <p:sp>
        <p:nvSpPr>
          <p:cNvPr id="6" name="Description"/>
          <p:cNvSpPr txBox="1"/>
          <p:nvPr/>
        </p:nvSpPr>
        <p:spPr>
          <a:xfrm>
            <a:off x="822960" y="168249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Form where a registered user logs in.</a:t>
            </a:r>
            <a:endParaRPr lang="en-US" sz="1600" dirty="0"/>
          </a:p>
        </p:txBody>
      </p:sp>
      <p:sp>
        <p:nvSpPr>
          <p:cNvPr id="7" name="Responsibilities heading"/>
          <p:cNvSpPr txBox="1"/>
          <p:nvPr/>
        </p:nvSpPr>
        <p:spPr>
          <a:xfrm>
            <a:off x="822960" y="2377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Responsibilities</a:t>
            </a:r>
            <a:endParaRPr lang="en-US" sz="2000" dirty="0"/>
          </a:p>
        </p:txBody>
      </p:sp>
      <p:sp>
        <p:nvSpPr>
          <p:cNvPr id="8" name="Knows heading"/>
          <p:cNvSpPr txBox="1"/>
          <p:nvPr/>
        </p:nvSpPr>
        <p:spPr>
          <a:xfrm>
            <a:off x="822960" y="28163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Knows</a:t>
            </a:r>
            <a:endParaRPr lang="en-US" sz="1400" dirty="0"/>
          </a:p>
        </p:txBody>
      </p:sp>
      <p:sp>
        <p:nvSpPr>
          <p:cNvPr id="9" name="Knows"/>
          <p:cNvSpPr txBox="1"/>
          <p:nvPr/>
        </p:nvSpPr>
        <p:spPr>
          <a:xfrm>
            <a:off x="822960" y="3127248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username: what the user typed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password: what the user typed</a:t>
            </a:r>
            <a:endParaRPr lang="en-US" sz="1400" dirty="0"/>
          </a:p>
        </p:txBody>
      </p:sp>
      <p:sp>
        <p:nvSpPr>
          <p:cNvPr id="10" name="Does heading"/>
          <p:cNvSpPr txBox="1"/>
          <p:nvPr/>
        </p:nvSpPr>
        <p:spPr>
          <a:xfrm>
            <a:off x="4617720" y="281635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Does</a:t>
            </a:r>
            <a:endParaRPr lang="en-US" sz="1400" dirty="0"/>
          </a:p>
        </p:txBody>
      </p:sp>
      <p:sp>
        <p:nvSpPr>
          <p:cNvPr id="11" name="Does"/>
          <p:cNvSpPr txBox="1"/>
          <p:nvPr/>
        </p:nvSpPr>
        <p:spPr>
          <a:xfrm>
            <a:off x="4617720" y="3127248"/>
            <a:ext cx="4251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submitLogin(): sends the credentials to the server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 success, tells App the user is logged in and opens the map page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shows "Invalid credentials" or another error message</a:t>
            </a:r>
            <a:endParaRPr lang="en-US" sz="1400" dirty="0"/>
          </a:p>
        </p:txBody>
      </p:sp>
      <p:sp>
        <p:nvSpPr>
          <p:cNvPr id="12" name="Collaborators panel"/>
          <p:cNvSpPr/>
          <p:nvPr/>
        </p:nvSpPr>
        <p:spPr>
          <a:xfrm>
            <a:off x="9144000" y="2377440"/>
            <a:ext cx="2286000" cy="36576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3" name="Collaborators heading"/>
          <p:cNvSpPr txBox="1"/>
          <p:nvPr/>
        </p:nvSpPr>
        <p:spPr>
          <a:xfrm>
            <a:off x="932688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Collaborators</a:t>
            </a:r>
            <a:endParaRPr lang="en-US" sz="2000" dirty="0"/>
          </a:p>
        </p:txBody>
      </p:sp>
      <p:sp>
        <p:nvSpPr>
          <p:cNvPr id="14" name="Collaborators"/>
          <p:cNvSpPr txBox="1"/>
          <p:nvPr/>
        </p:nvSpPr>
        <p:spPr>
          <a:xfrm>
            <a:off x="9326880" y="2971800"/>
            <a:ext cx="1920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ApiClient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App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5669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RegisterPage</a:t>
            </a:r>
            <a:endParaRPr lang="en-US" sz="3600" dirty="0"/>
          </a:p>
        </p:txBody>
      </p:sp>
      <p:sp>
        <p:nvSpPr>
          <p:cNvPr id="3" name="Layer tag"/>
          <p:cNvSpPr/>
          <p:nvPr/>
        </p:nvSpPr>
        <p:spPr>
          <a:xfrm>
            <a:off x="9829800" y="731520"/>
            <a:ext cx="1600200" cy="4023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Layer label"/>
          <p:cNvSpPr txBox="1"/>
          <p:nvPr/>
        </p:nvSpPr>
        <p:spPr>
          <a:xfrm>
            <a:off x="9829800" y="73152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Frontend</a:t>
            </a:r>
            <a:endParaRPr lang="en-US" sz="1400" dirty="0"/>
          </a:p>
        </p:txBody>
      </p:sp>
      <p:sp>
        <p:nvSpPr>
          <p:cNvPr id="5" name="Source file"/>
          <p:cNvSpPr txBox="1"/>
          <p:nvPr/>
        </p:nvSpPr>
        <p:spPr>
          <a:xfrm>
            <a:off x="822960" y="131673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frontend/src/pages/Register.jsx</a:t>
            </a:r>
            <a:endParaRPr lang="en-US" sz="1200" dirty="0"/>
          </a:p>
        </p:txBody>
      </p:sp>
      <p:sp>
        <p:nvSpPr>
          <p:cNvPr id="6" name="Description"/>
          <p:cNvSpPr txBox="1"/>
          <p:nvPr/>
        </p:nvSpPr>
        <p:spPr>
          <a:xfrm>
            <a:off x="822960" y="168249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Form where a visitor creates an account.</a:t>
            </a:r>
            <a:endParaRPr lang="en-US" sz="1600" dirty="0"/>
          </a:p>
        </p:txBody>
      </p:sp>
      <p:sp>
        <p:nvSpPr>
          <p:cNvPr id="7" name="Responsibilities heading"/>
          <p:cNvSpPr txBox="1"/>
          <p:nvPr/>
        </p:nvSpPr>
        <p:spPr>
          <a:xfrm>
            <a:off x="822960" y="2377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Responsibilities</a:t>
            </a:r>
            <a:endParaRPr lang="en-US" sz="2000" dirty="0"/>
          </a:p>
        </p:txBody>
      </p:sp>
      <p:sp>
        <p:nvSpPr>
          <p:cNvPr id="8" name="Knows heading"/>
          <p:cNvSpPr txBox="1"/>
          <p:nvPr/>
        </p:nvSpPr>
        <p:spPr>
          <a:xfrm>
            <a:off x="822960" y="28163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Knows</a:t>
            </a:r>
            <a:endParaRPr lang="en-US" sz="1400" dirty="0"/>
          </a:p>
        </p:txBody>
      </p:sp>
      <p:sp>
        <p:nvSpPr>
          <p:cNvPr id="9" name="Knows"/>
          <p:cNvSpPr txBox="1"/>
          <p:nvPr/>
        </p:nvSpPr>
        <p:spPr>
          <a:xfrm>
            <a:off x="822960" y="3127248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email, username, password: what the visitor typed</a:t>
            </a:r>
            <a:endParaRPr lang="en-US" sz="1400" dirty="0"/>
          </a:p>
        </p:txBody>
      </p:sp>
      <p:sp>
        <p:nvSpPr>
          <p:cNvPr id="10" name="Does heading"/>
          <p:cNvSpPr txBox="1"/>
          <p:nvPr/>
        </p:nvSpPr>
        <p:spPr>
          <a:xfrm>
            <a:off x="4617720" y="281635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Does</a:t>
            </a:r>
            <a:endParaRPr lang="en-US" sz="1400" dirty="0"/>
          </a:p>
        </p:txBody>
      </p:sp>
      <p:sp>
        <p:nvSpPr>
          <p:cNvPr id="11" name="Does"/>
          <p:cNvSpPr txBox="1"/>
          <p:nvPr/>
        </p:nvSpPr>
        <p:spPr>
          <a:xfrm>
            <a:off x="4617720" y="3127248"/>
            <a:ext cx="4251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checks that all three fields are filled in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submitRegistration(): sends them to the server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 success, opens the login page; otherwise shows the server's message</a:t>
            </a:r>
            <a:endParaRPr lang="en-US" sz="1400" dirty="0"/>
          </a:p>
        </p:txBody>
      </p:sp>
      <p:sp>
        <p:nvSpPr>
          <p:cNvPr id="12" name="Collaborators panel"/>
          <p:cNvSpPr/>
          <p:nvPr/>
        </p:nvSpPr>
        <p:spPr>
          <a:xfrm>
            <a:off x="9144000" y="2377440"/>
            <a:ext cx="2286000" cy="36576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3" name="Collaborators heading"/>
          <p:cNvSpPr txBox="1"/>
          <p:nvPr/>
        </p:nvSpPr>
        <p:spPr>
          <a:xfrm>
            <a:off x="932688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Collaborators</a:t>
            </a:r>
            <a:endParaRPr lang="en-US" sz="2000" dirty="0"/>
          </a:p>
        </p:txBody>
      </p:sp>
      <p:sp>
        <p:nvSpPr>
          <p:cNvPr id="14" name="Collaborators"/>
          <p:cNvSpPr txBox="1"/>
          <p:nvPr/>
        </p:nvSpPr>
        <p:spPr>
          <a:xfrm>
            <a:off x="9326880" y="2971800"/>
            <a:ext cx="1920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ApiClient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5669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MapPage</a:t>
            </a:r>
            <a:endParaRPr lang="en-US" sz="3600" dirty="0"/>
          </a:p>
        </p:txBody>
      </p:sp>
      <p:sp>
        <p:nvSpPr>
          <p:cNvPr id="3" name="Layer tag"/>
          <p:cNvSpPr/>
          <p:nvPr/>
        </p:nvSpPr>
        <p:spPr>
          <a:xfrm>
            <a:off x="9829800" y="731520"/>
            <a:ext cx="1600200" cy="4023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Layer label"/>
          <p:cNvSpPr txBox="1"/>
          <p:nvPr/>
        </p:nvSpPr>
        <p:spPr>
          <a:xfrm>
            <a:off x="9829800" y="73152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Frontend</a:t>
            </a:r>
            <a:endParaRPr lang="en-US" sz="1400" dirty="0"/>
          </a:p>
        </p:txBody>
      </p:sp>
      <p:sp>
        <p:nvSpPr>
          <p:cNvPr id="5" name="Source file"/>
          <p:cNvSpPr txBox="1"/>
          <p:nvPr/>
        </p:nvSpPr>
        <p:spPr>
          <a:xfrm>
            <a:off x="822960" y="131673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frontend/src/pages/MapPage.jsx</a:t>
            </a:r>
            <a:endParaRPr lang="en-US" sz="1200" dirty="0"/>
          </a:p>
        </p:txBody>
      </p:sp>
      <p:sp>
        <p:nvSpPr>
          <p:cNvPr id="6" name="Description"/>
          <p:cNvSpPr txBox="1"/>
          <p:nvPr/>
        </p:nvSpPr>
        <p:spPr>
          <a:xfrm>
            <a:off x="822960" y="168249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Main page for logged-in users: choose a month, load its temperatures, show them on the map.</a:t>
            </a:r>
            <a:endParaRPr lang="en-US" sz="1600" dirty="0"/>
          </a:p>
        </p:txBody>
      </p:sp>
      <p:sp>
        <p:nvSpPr>
          <p:cNvPr id="7" name="Responsibilities heading"/>
          <p:cNvSpPr txBox="1"/>
          <p:nvPr/>
        </p:nvSpPr>
        <p:spPr>
          <a:xfrm>
            <a:off x="822960" y="2377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Responsibilities</a:t>
            </a:r>
            <a:endParaRPr lang="en-US" sz="2000" dirty="0"/>
          </a:p>
        </p:txBody>
      </p:sp>
      <p:sp>
        <p:nvSpPr>
          <p:cNvPr id="8" name="Knows heading"/>
          <p:cNvSpPr txBox="1"/>
          <p:nvPr/>
        </p:nvSpPr>
        <p:spPr>
          <a:xfrm>
            <a:off x="822960" y="28163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Knows</a:t>
            </a:r>
            <a:endParaRPr lang="en-US" sz="1400" dirty="0"/>
          </a:p>
        </p:txBody>
      </p:sp>
      <p:sp>
        <p:nvSpPr>
          <p:cNvPr id="9" name="Knows"/>
          <p:cNvSpPr txBox="1"/>
          <p:nvPr/>
        </p:nvSpPr>
        <p:spPr>
          <a:xfrm>
            <a:off x="822960" y="3127248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date: the chosen month as YYYY-MM-01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temperatureData: the points to draw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isLoading: whether a request is running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errorMessage: the message to show, if any</a:t>
            </a:r>
            <a:endParaRPr lang="en-US" sz="1400" dirty="0"/>
          </a:p>
        </p:txBody>
      </p:sp>
      <p:sp>
        <p:nvSpPr>
          <p:cNvPr id="10" name="Does heading"/>
          <p:cNvSpPr txBox="1"/>
          <p:nvPr/>
        </p:nvSpPr>
        <p:spPr>
          <a:xfrm>
            <a:off x="4617720" y="281635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Does</a:t>
            </a:r>
            <a:endParaRPr lang="en-US" sz="1400" dirty="0"/>
          </a:p>
        </p:txBody>
      </p:sp>
      <p:sp>
        <p:nvSpPr>
          <p:cNvPr id="11" name="Does"/>
          <p:cNvSpPr txBox="1"/>
          <p:nvPr/>
        </p:nvSpPr>
        <p:spPr>
          <a:xfrm>
            <a:off x="4617720" y="3127248"/>
            <a:ext cx="4251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fetchTemperatureData(): requests the chosen month's points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showError(message): shows why data can't be displayed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backToLogin(): returns to the login page when the session has expired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logout(): ends the session, then returns to the login page</a:t>
            </a:r>
            <a:endParaRPr lang="en-US" sz="1400" dirty="0"/>
          </a:p>
        </p:txBody>
      </p:sp>
      <p:sp>
        <p:nvSpPr>
          <p:cNvPr id="12" name="Collaborators panel"/>
          <p:cNvSpPr/>
          <p:nvPr/>
        </p:nvSpPr>
        <p:spPr>
          <a:xfrm>
            <a:off x="9144000" y="2377440"/>
            <a:ext cx="2286000" cy="36576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3" name="Collaborators heading"/>
          <p:cNvSpPr txBox="1"/>
          <p:nvPr/>
        </p:nvSpPr>
        <p:spPr>
          <a:xfrm>
            <a:off x="932688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Collaborators</a:t>
            </a:r>
            <a:endParaRPr lang="en-US" sz="2000" dirty="0"/>
          </a:p>
        </p:txBody>
      </p:sp>
      <p:sp>
        <p:nvSpPr>
          <p:cNvPr id="14" name="Collaborators"/>
          <p:cNvSpPr txBox="1"/>
          <p:nvPr/>
        </p:nvSpPr>
        <p:spPr>
          <a:xfrm>
            <a:off x="9326880" y="2971800"/>
            <a:ext cx="1920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DateSelector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TemperatureMap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ApiClient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App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5669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DateSelector</a:t>
            </a:r>
            <a:endParaRPr lang="en-US" sz="3600" dirty="0"/>
          </a:p>
        </p:txBody>
      </p:sp>
      <p:sp>
        <p:nvSpPr>
          <p:cNvPr id="3" name="Layer tag"/>
          <p:cNvSpPr/>
          <p:nvPr/>
        </p:nvSpPr>
        <p:spPr>
          <a:xfrm>
            <a:off x="9829800" y="731520"/>
            <a:ext cx="1600200" cy="4023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Layer label"/>
          <p:cNvSpPr txBox="1"/>
          <p:nvPr/>
        </p:nvSpPr>
        <p:spPr>
          <a:xfrm>
            <a:off x="9829800" y="73152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Frontend</a:t>
            </a:r>
            <a:endParaRPr lang="en-US" sz="1400" dirty="0"/>
          </a:p>
        </p:txBody>
      </p:sp>
      <p:sp>
        <p:nvSpPr>
          <p:cNvPr id="5" name="Source file"/>
          <p:cNvSpPr txBox="1"/>
          <p:nvPr/>
        </p:nvSpPr>
        <p:spPr>
          <a:xfrm>
            <a:off x="822960" y="131673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frontend/src/components/DateSelector.jsx</a:t>
            </a:r>
            <a:endParaRPr lang="en-US" sz="1200" dirty="0"/>
          </a:p>
        </p:txBody>
      </p:sp>
      <p:sp>
        <p:nvSpPr>
          <p:cNvPr id="6" name="Description"/>
          <p:cNvSpPr txBox="1"/>
          <p:nvPr/>
        </p:nvSpPr>
        <p:spPr>
          <a:xfrm>
            <a:off x="822960" y="168249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Month and year dropdowns with a Fetch Data button.</a:t>
            </a:r>
            <a:endParaRPr lang="en-US" sz="1600" dirty="0"/>
          </a:p>
        </p:txBody>
      </p:sp>
      <p:sp>
        <p:nvSpPr>
          <p:cNvPr id="7" name="Responsibilities heading"/>
          <p:cNvSpPr txBox="1"/>
          <p:nvPr/>
        </p:nvSpPr>
        <p:spPr>
          <a:xfrm>
            <a:off x="822960" y="2377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Responsibilities</a:t>
            </a:r>
            <a:endParaRPr lang="en-US" sz="2000" dirty="0"/>
          </a:p>
        </p:txBody>
      </p:sp>
      <p:sp>
        <p:nvSpPr>
          <p:cNvPr id="8" name="Knows heading"/>
          <p:cNvSpPr txBox="1"/>
          <p:nvPr/>
        </p:nvSpPr>
        <p:spPr>
          <a:xfrm>
            <a:off x="822960" y="28163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Knows</a:t>
            </a:r>
            <a:endParaRPr lang="en-US" sz="1400" dirty="0"/>
          </a:p>
        </p:txBody>
      </p:sp>
      <p:sp>
        <p:nvSpPr>
          <p:cNvPr id="9" name="Knows"/>
          <p:cNvSpPr txBox="1"/>
          <p:nvPr/>
        </p:nvSpPr>
        <p:spPr>
          <a:xfrm>
            <a:off x="822960" y="3127248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month, year: the current choices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firstYear = 1895, lastYear = 2022: the years the dataset covers</a:t>
            </a:r>
            <a:endParaRPr lang="en-US" sz="1400" dirty="0"/>
          </a:p>
        </p:txBody>
      </p:sp>
      <p:sp>
        <p:nvSpPr>
          <p:cNvPr id="10" name="Does heading"/>
          <p:cNvSpPr txBox="1"/>
          <p:nvPr/>
        </p:nvSpPr>
        <p:spPr>
          <a:xfrm>
            <a:off x="4617720" y="281635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Does</a:t>
            </a:r>
            <a:endParaRPr lang="en-US" sz="1400" dirty="0"/>
          </a:p>
        </p:txBody>
      </p:sp>
      <p:sp>
        <p:nvSpPr>
          <p:cNvPr id="11" name="Does"/>
          <p:cNvSpPr txBox="1"/>
          <p:nvPr/>
        </p:nvSpPr>
        <p:spPr>
          <a:xfrm>
            <a:off x="4617720" y="3127248"/>
            <a:ext cx="4251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chooseMonth(), chooseYear(): update the choice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reportDate(): tells MapPage the date as YYYY-MM-01 once both are chosen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asks MapPage to fetch data when Fetch Data is clicked</a:t>
            </a:r>
            <a:endParaRPr lang="en-US" sz="1400" dirty="0"/>
          </a:p>
        </p:txBody>
      </p:sp>
      <p:sp>
        <p:nvSpPr>
          <p:cNvPr id="12" name="Collaborators panel"/>
          <p:cNvSpPr/>
          <p:nvPr/>
        </p:nvSpPr>
        <p:spPr>
          <a:xfrm>
            <a:off x="9144000" y="2377440"/>
            <a:ext cx="2286000" cy="36576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3" name="Collaborators heading"/>
          <p:cNvSpPr txBox="1"/>
          <p:nvPr/>
        </p:nvSpPr>
        <p:spPr>
          <a:xfrm>
            <a:off x="932688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Collaborators</a:t>
            </a:r>
            <a:endParaRPr lang="en-US" sz="2000" dirty="0"/>
          </a:p>
        </p:txBody>
      </p:sp>
      <p:sp>
        <p:nvSpPr>
          <p:cNvPr id="14" name="Collaborators"/>
          <p:cNvSpPr txBox="1"/>
          <p:nvPr/>
        </p:nvSpPr>
        <p:spPr>
          <a:xfrm>
            <a:off x="9326880" y="2971800"/>
            <a:ext cx="1920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MapPage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5669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TemperatureMap</a:t>
            </a:r>
            <a:endParaRPr lang="en-US" sz="3600" dirty="0"/>
          </a:p>
        </p:txBody>
      </p:sp>
      <p:sp>
        <p:nvSpPr>
          <p:cNvPr id="3" name="Layer tag"/>
          <p:cNvSpPr/>
          <p:nvPr/>
        </p:nvSpPr>
        <p:spPr>
          <a:xfrm>
            <a:off x="9829800" y="731520"/>
            <a:ext cx="1600200" cy="4023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Layer label"/>
          <p:cNvSpPr txBox="1"/>
          <p:nvPr/>
        </p:nvSpPr>
        <p:spPr>
          <a:xfrm>
            <a:off x="9829800" y="73152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Frontend</a:t>
            </a:r>
            <a:endParaRPr lang="en-US" sz="1400" dirty="0"/>
          </a:p>
        </p:txBody>
      </p:sp>
      <p:sp>
        <p:nvSpPr>
          <p:cNvPr id="5" name="Source file"/>
          <p:cNvSpPr txBox="1"/>
          <p:nvPr/>
        </p:nvSpPr>
        <p:spPr>
          <a:xfrm>
            <a:off x="822960" y="131673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frontend/src/components/MapComponent.jsx</a:t>
            </a:r>
            <a:endParaRPr lang="en-US" sz="1200" dirty="0"/>
          </a:p>
        </p:txBody>
      </p:sp>
      <p:sp>
        <p:nvSpPr>
          <p:cNvPr id="6" name="Description"/>
          <p:cNvSpPr txBox="1"/>
          <p:nvPr/>
        </p:nvSpPr>
        <p:spPr>
          <a:xfrm>
            <a:off x="822960" y="168249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Leaflet map of West Virginia that draws one colored circle per temperature point.</a:t>
            </a:r>
            <a:endParaRPr lang="en-US" sz="1600" dirty="0"/>
          </a:p>
        </p:txBody>
      </p:sp>
      <p:sp>
        <p:nvSpPr>
          <p:cNvPr id="7" name="Responsibilities heading"/>
          <p:cNvSpPr txBox="1"/>
          <p:nvPr/>
        </p:nvSpPr>
        <p:spPr>
          <a:xfrm>
            <a:off x="822960" y="2377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Responsibilities</a:t>
            </a:r>
            <a:endParaRPr lang="en-US" sz="2000" dirty="0"/>
          </a:p>
        </p:txBody>
      </p:sp>
      <p:sp>
        <p:nvSpPr>
          <p:cNvPr id="8" name="Knows heading"/>
          <p:cNvSpPr txBox="1"/>
          <p:nvPr/>
        </p:nvSpPr>
        <p:spPr>
          <a:xfrm>
            <a:off x="822960" y="28163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Knows</a:t>
            </a:r>
            <a:endParaRPr lang="en-US" sz="1400" dirty="0"/>
          </a:p>
        </p:txBody>
      </p:sp>
      <p:sp>
        <p:nvSpPr>
          <p:cNvPr id="9" name="Knows"/>
          <p:cNvSpPr txBox="1"/>
          <p:nvPr/>
        </p:nvSpPr>
        <p:spPr>
          <a:xfrm>
            <a:off x="822960" y="3127248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center and zoom: where the map starts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colorScale: dark blue at −10 °F to dark red at 110 °F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points: the temperatures to draw</a:t>
            </a:r>
            <a:endParaRPr lang="en-US" sz="1400" dirty="0"/>
          </a:p>
        </p:txBody>
      </p:sp>
      <p:sp>
        <p:nvSpPr>
          <p:cNvPr id="10" name="Does heading"/>
          <p:cNvSpPr txBox="1"/>
          <p:nvPr/>
        </p:nvSpPr>
        <p:spPr>
          <a:xfrm>
            <a:off x="4617720" y="281635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Does</a:t>
            </a:r>
            <a:endParaRPr lang="en-US" sz="1400" dirty="0"/>
          </a:p>
        </p:txBody>
      </p:sp>
      <p:sp>
        <p:nvSpPr>
          <p:cNvPr id="11" name="Does"/>
          <p:cNvSpPr txBox="1"/>
          <p:nvPr/>
        </p:nvSpPr>
        <p:spPr>
          <a:xfrm>
            <a:off x="4617720" y="3127248"/>
            <a:ext cx="4251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drawPoints(points): draws a circle for each point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colorFor(tavg): picks a point's color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showPopup(point): shows latitude, longitude, and °F when a circle is clicked</a:t>
            </a:r>
            <a:endParaRPr lang="en-US" sz="1400" dirty="0"/>
          </a:p>
        </p:txBody>
      </p:sp>
      <p:sp>
        <p:nvSpPr>
          <p:cNvPr id="12" name="Collaborators panel"/>
          <p:cNvSpPr/>
          <p:nvPr/>
        </p:nvSpPr>
        <p:spPr>
          <a:xfrm>
            <a:off x="9144000" y="2377440"/>
            <a:ext cx="2286000" cy="36576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3" name="Collaborators heading"/>
          <p:cNvSpPr txBox="1"/>
          <p:nvPr/>
        </p:nvSpPr>
        <p:spPr>
          <a:xfrm>
            <a:off x="932688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Collaborators</a:t>
            </a:r>
            <a:endParaRPr lang="en-US" sz="2000" dirty="0"/>
          </a:p>
        </p:txBody>
      </p:sp>
      <p:sp>
        <p:nvSpPr>
          <p:cNvPr id="14" name="Collaborators"/>
          <p:cNvSpPr txBox="1"/>
          <p:nvPr/>
        </p:nvSpPr>
        <p:spPr>
          <a:xfrm>
            <a:off x="9326880" y="2971800"/>
            <a:ext cx="1920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TemperaturePoint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OpenStreetMap tile server (external)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5669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AuthController</a:t>
            </a:r>
            <a:endParaRPr lang="en-US" sz="3600" dirty="0"/>
          </a:p>
        </p:txBody>
      </p:sp>
      <p:sp>
        <p:nvSpPr>
          <p:cNvPr id="3" name="Layer tag"/>
          <p:cNvSpPr/>
          <p:nvPr/>
        </p:nvSpPr>
        <p:spPr>
          <a:xfrm>
            <a:off x="9829800" y="731520"/>
            <a:ext cx="1600200" cy="40233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Layer label"/>
          <p:cNvSpPr txBox="1"/>
          <p:nvPr/>
        </p:nvSpPr>
        <p:spPr>
          <a:xfrm>
            <a:off x="9829800" y="73152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Backend</a:t>
            </a:r>
            <a:endParaRPr lang="en-US" sz="1400" dirty="0"/>
          </a:p>
        </p:txBody>
      </p:sp>
      <p:sp>
        <p:nvSpPr>
          <p:cNvPr id="5" name="Source file"/>
          <p:cNvSpPr txBox="1"/>
          <p:nvPr/>
        </p:nvSpPr>
        <p:spPr>
          <a:xfrm>
            <a:off x="822960" y="131673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backend/routes/auth.js</a:t>
            </a:r>
            <a:endParaRPr lang="en-US" sz="1200" dirty="0"/>
          </a:p>
        </p:txBody>
      </p:sp>
      <p:sp>
        <p:nvSpPr>
          <p:cNvPr id="6" name="Description"/>
          <p:cNvSpPr txBox="1"/>
          <p:nvPr/>
        </p:nvSpPr>
        <p:spPr>
          <a:xfrm>
            <a:off x="822960" y="168249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Handles registration, login, session checks, and logout (the /auth routes).</a:t>
            </a:r>
            <a:endParaRPr lang="en-US" sz="1600" dirty="0"/>
          </a:p>
        </p:txBody>
      </p:sp>
      <p:sp>
        <p:nvSpPr>
          <p:cNvPr id="7" name="Responsibilities heading"/>
          <p:cNvSpPr txBox="1"/>
          <p:nvPr/>
        </p:nvSpPr>
        <p:spPr>
          <a:xfrm>
            <a:off x="822960" y="2377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Responsibilities</a:t>
            </a:r>
            <a:endParaRPr lang="en-US" sz="2000" dirty="0"/>
          </a:p>
        </p:txBody>
      </p:sp>
      <p:sp>
        <p:nvSpPr>
          <p:cNvPr id="8" name="Knows heading"/>
          <p:cNvSpPr txBox="1"/>
          <p:nvPr/>
        </p:nvSpPr>
        <p:spPr>
          <a:xfrm>
            <a:off x="822960" y="28163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Knows</a:t>
            </a:r>
            <a:endParaRPr lang="en-US" sz="1400" dirty="0"/>
          </a:p>
        </p:txBody>
      </p:sp>
      <p:sp>
        <p:nvSpPr>
          <p:cNvPr id="9" name="Knows"/>
          <p:cNvSpPr txBox="1"/>
          <p:nvPr/>
        </p:nvSpPr>
        <p:spPr>
          <a:xfrm>
            <a:off x="822960" y="3127248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minimum password length = 8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session lifetime = 1 hour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attemptLimit: 20 login/register attempts per address per 15 minutes</a:t>
            </a:r>
            <a:endParaRPr lang="en-US" sz="1400" dirty="0"/>
          </a:p>
        </p:txBody>
      </p:sp>
      <p:sp>
        <p:nvSpPr>
          <p:cNvPr id="10" name="Does heading"/>
          <p:cNvSpPr txBox="1"/>
          <p:nvPr/>
        </p:nvSpPr>
        <p:spPr>
          <a:xfrm>
            <a:off x="4617720" y="281635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Does</a:t>
            </a:r>
            <a:endParaRPr lang="en-US" sz="1400" dirty="0"/>
          </a:p>
        </p:txBody>
      </p:sp>
      <p:sp>
        <p:nvSpPr>
          <p:cNvPr id="11" name="Does"/>
          <p:cNvSpPr txBox="1"/>
          <p:nvPr/>
        </p:nvSpPr>
        <p:spPr>
          <a:xfrm>
            <a:off x="4617720" y="3127248"/>
            <a:ext cx="4251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register(email, username, password): validates input and creates the user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hashPassword(password): makes a bcrypt hash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login(username, password): checks credentials and sets the session cookie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currentUser(): reports who is logged in (GET /auth/test)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logout(): clears the session cookie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limitAttempts(request): refuses requests over the limit</a:t>
            </a:r>
            <a:endParaRPr lang="en-US" sz="1400" dirty="0"/>
          </a:p>
        </p:txBody>
      </p:sp>
      <p:sp>
        <p:nvSpPr>
          <p:cNvPr id="12" name="Collaborators panel"/>
          <p:cNvSpPr/>
          <p:nvPr/>
        </p:nvSpPr>
        <p:spPr>
          <a:xfrm>
            <a:off x="9144000" y="2377440"/>
            <a:ext cx="2286000" cy="36576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3" name="Collaborators heading"/>
          <p:cNvSpPr txBox="1"/>
          <p:nvPr/>
        </p:nvSpPr>
        <p:spPr>
          <a:xfrm>
            <a:off x="932688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Collaborators</a:t>
            </a:r>
            <a:endParaRPr lang="en-US" sz="2000" dirty="0"/>
          </a:p>
        </p:txBody>
      </p:sp>
      <p:sp>
        <p:nvSpPr>
          <p:cNvPr id="14" name="Collaborators"/>
          <p:cNvSpPr txBox="1"/>
          <p:nvPr/>
        </p:nvSpPr>
        <p:spPr>
          <a:xfrm>
            <a:off x="9326880" y="2971800"/>
            <a:ext cx="1920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UserStore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User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SessionToken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AuthGuard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5669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AuthGuard</a:t>
            </a:r>
            <a:endParaRPr lang="en-US" sz="3600" dirty="0"/>
          </a:p>
        </p:txBody>
      </p:sp>
      <p:sp>
        <p:nvSpPr>
          <p:cNvPr id="3" name="Layer tag"/>
          <p:cNvSpPr/>
          <p:nvPr/>
        </p:nvSpPr>
        <p:spPr>
          <a:xfrm>
            <a:off x="9829800" y="731520"/>
            <a:ext cx="1600200" cy="40233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Layer label"/>
          <p:cNvSpPr txBox="1"/>
          <p:nvPr/>
        </p:nvSpPr>
        <p:spPr>
          <a:xfrm>
            <a:off x="9829800" y="73152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Backend</a:t>
            </a:r>
            <a:endParaRPr lang="en-US" sz="1400" dirty="0"/>
          </a:p>
        </p:txBody>
      </p:sp>
      <p:sp>
        <p:nvSpPr>
          <p:cNvPr id="5" name="Source file"/>
          <p:cNvSpPr txBox="1"/>
          <p:nvPr/>
        </p:nvSpPr>
        <p:spPr>
          <a:xfrm>
            <a:off x="822960" y="131673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backend/middleware/authMiddleware.js</a:t>
            </a:r>
            <a:endParaRPr lang="en-US" sz="1200" dirty="0"/>
          </a:p>
        </p:txBody>
      </p:sp>
      <p:sp>
        <p:nvSpPr>
          <p:cNvPr id="6" name="Description"/>
          <p:cNvSpPr txBox="1"/>
          <p:nvPr/>
        </p:nvSpPr>
        <p:spPr>
          <a:xfrm>
            <a:off x="822960" y="168249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Checks the session before any protected route runs.</a:t>
            </a:r>
            <a:endParaRPr lang="en-US" sz="1600" dirty="0"/>
          </a:p>
        </p:txBody>
      </p:sp>
      <p:sp>
        <p:nvSpPr>
          <p:cNvPr id="7" name="Responsibilities heading"/>
          <p:cNvSpPr txBox="1"/>
          <p:nvPr/>
        </p:nvSpPr>
        <p:spPr>
          <a:xfrm>
            <a:off x="822960" y="2377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Responsibilities</a:t>
            </a:r>
            <a:endParaRPr lang="en-US" sz="2000" dirty="0"/>
          </a:p>
        </p:txBody>
      </p:sp>
      <p:sp>
        <p:nvSpPr>
          <p:cNvPr id="8" name="Knows heading"/>
          <p:cNvSpPr txBox="1"/>
          <p:nvPr/>
        </p:nvSpPr>
        <p:spPr>
          <a:xfrm>
            <a:off x="822960" y="28163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Knows</a:t>
            </a:r>
            <a:endParaRPr lang="en-US" sz="1400" dirty="0"/>
          </a:p>
        </p:txBody>
      </p:sp>
      <p:sp>
        <p:nvSpPr>
          <p:cNvPr id="9" name="Knows"/>
          <p:cNvSpPr txBox="1"/>
          <p:nvPr/>
        </p:nvSpPr>
        <p:spPr>
          <a:xfrm>
            <a:off x="822960" y="3127248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name of the session cookie (token)</a:t>
            </a:r>
            <a:endParaRPr lang="en-US" sz="1400" dirty="0"/>
          </a:p>
        </p:txBody>
      </p:sp>
      <p:sp>
        <p:nvSpPr>
          <p:cNvPr id="10" name="Does heading"/>
          <p:cNvSpPr txBox="1"/>
          <p:nvPr/>
        </p:nvSpPr>
        <p:spPr>
          <a:xfrm>
            <a:off x="4617720" y="281635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Does</a:t>
            </a:r>
            <a:endParaRPr lang="en-US" sz="1400" dirty="0"/>
          </a:p>
        </p:txBody>
      </p:sp>
      <p:sp>
        <p:nvSpPr>
          <p:cNvPr id="11" name="Does"/>
          <p:cNvSpPr txBox="1"/>
          <p:nvPr/>
        </p:nvSpPr>
        <p:spPr>
          <a:xfrm>
            <a:off x="4617720" y="3127248"/>
            <a:ext cx="4251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requireLogin(request): lets the request continue with the user attached, or answers 401</a:t>
            </a:r>
            <a:endParaRPr lang="en-US" sz="1400" dirty="0"/>
          </a:p>
        </p:txBody>
      </p:sp>
      <p:sp>
        <p:nvSpPr>
          <p:cNvPr id="12" name="Collaborators panel"/>
          <p:cNvSpPr/>
          <p:nvPr/>
        </p:nvSpPr>
        <p:spPr>
          <a:xfrm>
            <a:off x="9144000" y="2377440"/>
            <a:ext cx="2286000" cy="36576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3" name="Collaborators heading"/>
          <p:cNvSpPr txBox="1"/>
          <p:nvPr/>
        </p:nvSpPr>
        <p:spPr>
          <a:xfrm>
            <a:off x="932688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Collaborators</a:t>
            </a:r>
            <a:endParaRPr lang="en-US" sz="2000" dirty="0"/>
          </a:p>
        </p:txBody>
      </p:sp>
      <p:sp>
        <p:nvSpPr>
          <p:cNvPr id="14" name="Collaborators"/>
          <p:cNvSpPr txBox="1"/>
          <p:nvPr/>
        </p:nvSpPr>
        <p:spPr>
          <a:xfrm>
            <a:off x="9326880" y="2971800"/>
            <a:ext cx="1920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SessionToken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TemperatureController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AuthController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5669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SessionToken</a:t>
            </a:r>
            <a:endParaRPr lang="en-US" sz="3600" dirty="0"/>
          </a:p>
        </p:txBody>
      </p:sp>
      <p:sp>
        <p:nvSpPr>
          <p:cNvPr id="3" name="Layer tag"/>
          <p:cNvSpPr/>
          <p:nvPr/>
        </p:nvSpPr>
        <p:spPr>
          <a:xfrm>
            <a:off x="9829800" y="731520"/>
            <a:ext cx="1600200" cy="40233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Layer label"/>
          <p:cNvSpPr txBox="1"/>
          <p:nvPr/>
        </p:nvSpPr>
        <p:spPr>
          <a:xfrm>
            <a:off x="9829800" y="73152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Backend</a:t>
            </a:r>
            <a:endParaRPr lang="en-US" sz="1400" dirty="0"/>
          </a:p>
        </p:txBody>
      </p:sp>
      <p:sp>
        <p:nvSpPr>
          <p:cNvPr id="5" name="Source file"/>
          <p:cNvSpPr txBox="1"/>
          <p:nvPr/>
        </p:nvSpPr>
        <p:spPr>
          <a:xfrm>
            <a:off x="822960" y="131673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jsonwebtoken + backend/config/cookies.js</a:t>
            </a:r>
            <a:endParaRPr lang="en-US" sz="1200" dirty="0"/>
          </a:p>
        </p:txBody>
      </p:sp>
      <p:sp>
        <p:nvSpPr>
          <p:cNvPr id="6" name="Description"/>
          <p:cNvSpPr txBox="1"/>
          <p:nvPr/>
        </p:nvSpPr>
        <p:spPr>
          <a:xfrm>
            <a:off x="822960" y="168249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signed token (JWT) that proves who is logged in. It travels only in an HTTP-only cookie.</a:t>
            </a:r>
            <a:endParaRPr lang="en-US" sz="1600" dirty="0"/>
          </a:p>
        </p:txBody>
      </p:sp>
      <p:sp>
        <p:nvSpPr>
          <p:cNvPr id="7" name="Responsibilities heading"/>
          <p:cNvSpPr txBox="1"/>
          <p:nvPr/>
        </p:nvSpPr>
        <p:spPr>
          <a:xfrm>
            <a:off x="822960" y="2377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Responsibilities</a:t>
            </a:r>
            <a:endParaRPr lang="en-US" sz="2000" dirty="0"/>
          </a:p>
        </p:txBody>
      </p:sp>
      <p:sp>
        <p:nvSpPr>
          <p:cNvPr id="8" name="Knows heading"/>
          <p:cNvSpPr txBox="1"/>
          <p:nvPr/>
        </p:nvSpPr>
        <p:spPr>
          <a:xfrm>
            <a:off x="822960" y="28163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Knows</a:t>
            </a:r>
            <a:endParaRPr lang="en-US" sz="1400" dirty="0"/>
          </a:p>
        </p:txBody>
      </p:sp>
      <p:sp>
        <p:nvSpPr>
          <p:cNvPr id="9" name="Knows"/>
          <p:cNvSpPr txBox="1"/>
          <p:nvPr/>
        </p:nvSpPr>
        <p:spPr>
          <a:xfrm>
            <a:off x="822960" y="3127248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userId, username: who it belongs to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lifetime = 1 hour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signing secret (JWT_SECRET)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cookie settings for development and production</a:t>
            </a:r>
            <a:endParaRPr lang="en-US" sz="1400" dirty="0"/>
          </a:p>
        </p:txBody>
      </p:sp>
      <p:sp>
        <p:nvSpPr>
          <p:cNvPr id="10" name="Does heading"/>
          <p:cNvSpPr txBox="1"/>
          <p:nvPr/>
        </p:nvSpPr>
        <p:spPr>
          <a:xfrm>
            <a:off x="4617720" y="281635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Does</a:t>
            </a:r>
            <a:endParaRPr lang="en-US" sz="1400" dirty="0"/>
          </a:p>
        </p:txBody>
      </p:sp>
      <p:sp>
        <p:nvSpPr>
          <p:cNvPr id="11" name="Does"/>
          <p:cNvSpPr txBox="1"/>
          <p:nvPr/>
        </p:nvSpPr>
        <p:spPr>
          <a:xfrm>
            <a:off x="4617720" y="3127248"/>
            <a:ext cx="4251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issue(user): creates and signs a token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verify(token): checks the signature and expiry and returns the user, or fails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cookieOptions(): the flags for setting and clearing the cookie</a:t>
            </a:r>
            <a:endParaRPr lang="en-US" sz="1400" dirty="0"/>
          </a:p>
        </p:txBody>
      </p:sp>
      <p:sp>
        <p:nvSpPr>
          <p:cNvPr id="12" name="Collaborators panel"/>
          <p:cNvSpPr/>
          <p:nvPr/>
        </p:nvSpPr>
        <p:spPr>
          <a:xfrm>
            <a:off x="9144000" y="2377440"/>
            <a:ext cx="2286000" cy="36576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3" name="Collaborators heading"/>
          <p:cNvSpPr txBox="1"/>
          <p:nvPr/>
        </p:nvSpPr>
        <p:spPr>
          <a:xfrm>
            <a:off x="932688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Collaborators</a:t>
            </a:r>
            <a:endParaRPr lang="en-US" sz="2000" dirty="0"/>
          </a:p>
        </p:txBody>
      </p:sp>
      <p:sp>
        <p:nvSpPr>
          <p:cNvPr id="14" name="Collaborators"/>
          <p:cNvSpPr txBox="1"/>
          <p:nvPr/>
        </p:nvSpPr>
        <p:spPr>
          <a:xfrm>
            <a:off x="9326880" y="2971800"/>
            <a:ext cx="1920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AuthController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AuthGuard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5669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User</a:t>
            </a:r>
            <a:endParaRPr lang="en-US" sz="3600" dirty="0"/>
          </a:p>
        </p:txBody>
      </p:sp>
      <p:sp>
        <p:nvSpPr>
          <p:cNvPr id="3" name="Layer tag"/>
          <p:cNvSpPr/>
          <p:nvPr/>
        </p:nvSpPr>
        <p:spPr>
          <a:xfrm>
            <a:off x="9829800" y="731520"/>
            <a:ext cx="1600200" cy="40233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Layer label"/>
          <p:cNvSpPr txBox="1"/>
          <p:nvPr/>
        </p:nvSpPr>
        <p:spPr>
          <a:xfrm>
            <a:off x="9829800" y="73152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Backend</a:t>
            </a:r>
            <a:endParaRPr lang="en-US" sz="1400" dirty="0"/>
          </a:p>
        </p:txBody>
      </p:sp>
      <p:sp>
        <p:nvSpPr>
          <p:cNvPr id="5" name="Source file"/>
          <p:cNvSpPr txBox="1"/>
          <p:nvPr/>
        </p:nvSpPr>
        <p:spPr>
          <a:xfrm>
            <a:off x="822960" y="131673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users table (backend/db/schema.sql)</a:t>
            </a:r>
            <a:endParaRPr lang="en-US" sz="1200" dirty="0"/>
          </a:p>
        </p:txBody>
      </p:sp>
      <p:sp>
        <p:nvSpPr>
          <p:cNvPr id="6" name="Description"/>
          <p:cNvSpPr txBox="1"/>
          <p:nvPr/>
        </p:nvSpPr>
        <p:spPr>
          <a:xfrm>
            <a:off x="822960" y="168249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registered account.</a:t>
            </a:r>
            <a:endParaRPr lang="en-US" sz="1600" dirty="0"/>
          </a:p>
        </p:txBody>
      </p:sp>
      <p:sp>
        <p:nvSpPr>
          <p:cNvPr id="7" name="Responsibilities heading"/>
          <p:cNvSpPr txBox="1"/>
          <p:nvPr/>
        </p:nvSpPr>
        <p:spPr>
          <a:xfrm>
            <a:off x="822960" y="2377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Responsibilities</a:t>
            </a:r>
            <a:endParaRPr lang="en-US" sz="2000" dirty="0"/>
          </a:p>
        </p:txBody>
      </p:sp>
      <p:sp>
        <p:nvSpPr>
          <p:cNvPr id="8" name="Knows heading"/>
          <p:cNvSpPr txBox="1"/>
          <p:nvPr/>
        </p:nvSpPr>
        <p:spPr>
          <a:xfrm>
            <a:off x="822960" y="28163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Knows</a:t>
            </a:r>
            <a:endParaRPr lang="en-US" sz="1400" dirty="0"/>
          </a:p>
        </p:txBody>
      </p:sp>
      <p:sp>
        <p:nvSpPr>
          <p:cNvPr id="9" name="Knows"/>
          <p:cNvSpPr txBox="1"/>
          <p:nvPr/>
        </p:nvSpPr>
        <p:spPr>
          <a:xfrm>
            <a:off x="822960" y="3127248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id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email (unique)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username (unique)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passwordHash (bcrypt, never the password)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createdAt</a:t>
            </a:r>
            <a:endParaRPr lang="en-US" sz="1400" dirty="0"/>
          </a:p>
        </p:txBody>
      </p:sp>
      <p:sp>
        <p:nvSpPr>
          <p:cNvPr id="10" name="Does heading"/>
          <p:cNvSpPr txBox="1"/>
          <p:nvPr/>
        </p:nvSpPr>
        <p:spPr>
          <a:xfrm>
            <a:off x="4617720" y="281635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Does</a:t>
            </a:r>
            <a:endParaRPr lang="en-US" sz="1400" dirty="0"/>
          </a:p>
        </p:txBody>
      </p:sp>
      <p:sp>
        <p:nvSpPr>
          <p:cNvPr id="11" name="Does"/>
          <p:cNvSpPr txBox="1"/>
          <p:nvPr/>
        </p:nvSpPr>
        <p:spPr>
          <a:xfrm>
            <a:off x="4617720" y="3127248"/>
            <a:ext cx="4251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checkPassword(password): compares a typed password with passwordHash</a:t>
            </a:r>
            <a:endParaRPr lang="en-US" sz="1400" dirty="0"/>
          </a:p>
        </p:txBody>
      </p:sp>
      <p:sp>
        <p:nvSpPr>
          <p:cNvPr id="12" name="Collaborators panel"/>
          <p:cNvSpPr/>
          <p:nvPr/>
        </p:nvSpPr>
        <p:spPr>
          <a:xfrm>
            <a:off x="9144000" y="2377440"/>
            <a:ext cx="2286000" cy="36576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3" name="Collaborators heading"/>
          <p:cNvSpPr txBox="1"/>
          <p:nvPr/>
        </p:nvSpPr>
        <p:spPr>
          <a:xfrm>
            <a:off x="932688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Collaborators</a:t>
            </a:r>
            <a:endParaRPr lang="en-US" sz="2000" dirty="0"/>
          </a:p>
        </p:txBody>
      </p:sp>
      <p:sp>
        <p:nvSpPr>
          <p:cNvPr id="14" name="Collaborators"/>
          <p:cNvSpPr txBox="1"/>
          <p:nvPr/>
        </p:nvSpPr>
        <p:spPr>
          <a:xfrm>
            <a:off x="9326880" y="2971800"/>
            <a:ext cx="1920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UserStore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AuthController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5669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UserStore</a:t>
            </a:r>
            <a:endParaRPr lang="en-US" sz="3600" dirty="0"/>
          </a:p>
        </p:txBody>
      </p:sp>
      <p:sp>
        <p:nvSpPr>
          <p:cNvPr id="3" name="Layer tag"/>
          <p:cNvSpPr/>
          <p:nvPr/>
        </p:nvSpPr>
        <p:spPr>
          <a:xfrm>
            <a:off x="9829800" y="731520"/>
            <a:ext cx="1600200" cy="40233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Layer label"/>
          <p:cNvSpPr txBox="1"/>
          <p:nvPr/>
        </p:nvSpPr>
        <p:spPr>
          <a:xfrm>
            <a:off x="9829800" y="73152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Backend</a:t>
            </a:r>
            <a:endParaRPr lang="en-US" sz="1400" dirty="0"/>
          </a:p>
        </p:txBody>
      </p:sp>
      <p:sp>
        <p:nvSpPr>
          <p:cNvPr id="5" name="Source file"/>
          <p:cNvSpPr txBox="1"/>
          <p:nvPr/>
        </p:nvSpPr>
        <p:spPr>
          <a:xfrm>
            <a:off x="822960" y="131673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backend/config/database.js</a:t>
            </a:r>
            <a:endParaRPr lang="en-US" sz="1200" dirty="0"/>
          </a:p>
        </p:txBody>
      </p:sp>
      <p:sp>
        <p:nvSpPr>
          <p:cNvPr id="6" name="Description"/>
          <p:cNvSpPr txBox="1"/>
          <p:nvPr/>
        </p:nvSpPr>
        <p:spPr>
          <a:xfrm>
            <a:off x="822960" y="168249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Saves and finds users in Azure Database for MySQL over an encrypted connection.</a:t>
            </a:r>
            <a:endParaRPr lang="en-US" sz="1600" dirty="0"/>
          </a:p>
        </p:txBody>
      </p:sp>
      <p:sp>
        <p:nvSpPr>
          <p:cNvPr id="7" name="Responsibilities heading"/>
          <p:cNvSpPr txBox="1"/>
          <p:nvPr/>
        </p:nvSpPr>
        <p:spPr>
          <a:xfrm>
            <a:off x="822960" y="2377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Responsibilities</a:t>
            </a:r>
            <a:endParaRPr lang="en-US" sz="2000" dirty="0"/>
          </a:p>
        </p:txBody>
      </p:sp>
      <p:sp>
        <p:nvSpPr>
          <p:cNvPr id="8" name="Knows heading"/>
          <p:cNvSpPr txBox="1"/>
          <p:nvPr/>
        </p:nvSpPr>
        <p:spPr>
          <a:xfrm>
            <a:off x="822960" y="28163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Knows</a:t>
            </a:r>
            <a:endParaRPr lang="en-US" sz="1400" dirty="0"/>
          </a:p>
        </p:txBody>
      </p:sp>
      <p:sp>
        <p:nvSpPr>
          <p:cNvPr id="9" name="Knows"/>
          <p:cNvSpPr txBox="1"/>
          <p:nvPr/>
        </p:nvSpPr>
        <p:spPr>
          <a:xfrm>
            <a:off x="822960" y="3127248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connection settings (host, user, password, database, port)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CA certificate used to verify the server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connection pool</a:t>
            </a:r>
            <a:endParaRPr lang="en-US" sz="1400" dirty="0"/>
          </a:p>
        </p:txBody>
      </p:sp>
      <p:sp>
        <p:nvSpPr>
          <p:cNvPr id="10" name="Does heading"/>
          <p:cNvSpPr txBox="1"/>
          <p:nvPr/>
        </p:nvSpPr>
        <p:spPr>
          <a:xfrm>
            <a:off x="4617720" y="281635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Does</a:t>
            </a:r>
            <a:endParaRPr lang="en-US" sz="1400" dirty="0"/>
          </a:p>
        </p:txBody>
      </p:sp>
      <p:sp>
        <p:nvSpPr>
          <p:cNvPr id="11" name="Does"/>
          <p:cNvSpPr txBox="1"/>
          <p:nvPr/>
        </p:nvSpPr>
        <p:spPr>
          <a:xfrm>
            <a:off x="4617720" y="3127248"/>
            <a:ext cx="4251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insertUser(username, email, passwordHash): adds a user; reports a duplicate username or email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findUserByUsername(username): returns the user, or nothing</a:t>
            </a:r>
            <a:endParaRPr lang="en-US" sz="1400" dirty="0"/>
          </a:p>
        </p:txBody>
      </p:sp>
      <p:sp>
        <p:nvSpPr>
          <p:cNvPr id="12" name="Collaborators panel"/>
          <p:cNvSpPr/>
          <p:nvPr/>
        </p:nvSpPr>
        <p:spPr>
          <a:xfrm>
            <a:off x="9144000" y="2377440"/>
            <a:ext cx="2286000" cy="36576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3" name="Collaborators heading"/>
          <p:cNvSpPr txBox="1"/>
          <p:nvPr/>
        </p:nvSpPr>
        <p:spPr>
          <a:xfrm>
            <a:off x="932688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Collaborators</a:t>
            </a:r>
            <a:endParaRPr lang="en-US" sz="2000" dirty="0"/>
          </a:p>
        </p:txBody>
      </p:sp>
      <p:sp>
        <p:nvSpPr>
          <p:cNvPr id="14" name="Collaborators"/>
          <p:cNvSpPr txBox="1"/>
          <p:nvPr/>
        </p:nvSpPr>
        <p:spPr>
          <a:xfrm>
            <a:off x="9326880" y="2971800"/>
            <a:ext cx="1920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User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Azure Database for MySQL (external)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5669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TemperatureController</a:t>
            </a:r>
            <a:endParaRPr lang="en-US" sz="3600" dirty="0"/>
          </a:p>
        </p:txBody>
      </p:sp>
      <p:sp>
        <p:nvSpPr>
          <p:cNvPr id="3" name="Layer tag"/>
          <p:cNvSpPr/>
          <p:nvPr/>
        </p:nvSpPr>
        <p:spPr>
          <a:xfrm>
            <a:off x="9829800" y="731520"/>
            <a:ext cx="1600200" cy="40233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Layer label"/>
          <p:cNvSpPr txBox="1"/>
          <p:nvPr/>
        </p:nvSpPr>
        <p:spPr>
          <a:xfrm>
            <a:off x="9829800" y="73152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Backend</a:t>
            </a:r>
            <a:endParaRPr lang="en-US" sz="1400" dirty="0"/>
          </a:p>
        </p:txBody>
      </p:sp>
      <p:sp>
        <p:nvSpPr>
          <p:cNvPr id="5" name="Source file"/>
          <p:cNvSpPr txBox="1"/>
          <p:nvPr/>
        </p:nvSpPr>
        <p:spPr>
          <a:xfrm>
            <a:off x="822960" y="131673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backend/routes/stac.js (GET /temperature/:date)</a:t>
            </a:r>
            <a:endParaRPr lang="en-US" sz="1200" dirty="0"/>
          </a:p>
        </p:txBody>
      </p:sp>
      <p:sp>
        <p:nvSpPr>
          <p:cNvPr id="6" name="Description"/>
          <p:cNvSpPr txBox="1"/>
          <p:nvPr/>
        </p:nvSpPr>
        <p:spPr>
          <a:xfrm>
            <a:off x="822960" y="168249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Answers requests for one month of West Virginia temperatures.</a:t>
            </a:r>
            <a:endParaRPr lang="en-US" sz="1600" dirty="0"/>
          </a:p>
        </p:txBody>
      </p:sp>
      <p:sp>
        <p:nvSpPr>
          <p:cNvPr id="7" name="Responsibilities heading"/>
          <p:cNvSpPr txBox="1"/>
          <p:nvPr/>
        </p:nvSpPr>
        <p:spPr>
          <a:xfrm>
            <a:off x="822960" y="2377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Responsibilities</a:t>
            </a:r>
            <a:endParaRPr lang="en-US" sz="2000" dirty="0"/>
          </a:p>
        </p:txBody>
      </p:sp>
      <p:sp>
        <p:nvSpPr>
          <p:cNvPr id="8" name="Knows heading"/>
          <p:cNvSpPr txBox="1"/>
          <p:nvPr/>
        </p:nvSpPr>
        <p:spPr>
          <a:xfrm>
            <a:off x="822960" y="28163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Knows</a:t>
            </a:r>
            <a:endParaRPr lang="en-US" sz="1400" dirty="0"/>
          </a:p>
        </p:txBody>
      </p:sp>
      <p:sp>
        <p:nvSpPr>
          <p:cNvPr id="9" name="Knows"/>
          <p:cNvSpPr txBox="1"/>
          <p:nvPr/>
        </p:nvSpPr>
        <p:spPr>
          <a:xfrm>
            <a:off x="822960" y="3127248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cache: recently loaded months (up to 24)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date format it accepts (YYYY-MM-DD)</a:t>
            </a:r>
            <a:endParaRPr lang="en-US" sz="1400" dirty="0"/>
          </a:p>
        </p:txBody>
      </p:sp>
      <p:sp>
        <p:nvSpPr>
          <p:cNvPr id="10" name="Does heading"/>
          <p:cNvSpPr txBox="1"/>
          <p:nvPr/>
        </p:nvSpPr>
        <p:spPr>
          <a:xfrm>
            <a:off x="4617720" y="281635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Does</a:t>
            </a:r>
            <a:endParaRPr lang="en-US" sz="1400" dirty="0"/>
          </a:p>
        </p:txBody>
      </p:sp>
      <p:sp>
        <p:nvSpPr>
          <p:cNvPr id="11" name="Does"/>
          <p:cNvSpPr txBox="1"/>
          <p:nvPr/>
        </p:nvSpPr>
        <p:spPr>
          <a:xfrm>
            <a:off x="4617720" y="3127248"/>
            <a:ext cx="4251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getMonthlyTemperatures(date): validates the date, returns cached points or loads them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answers 400 (bad date), 404 (no data for the month), or 502 (data service failed)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remembers each loaded month and drops the oldest when full</a:t>
            </a:r>
            <a:endParaRPr lang="en-US" sz="1400" dirty="0"/>
          </a:p>
        </p:txBody>
      </p:sp>
      <p:sp>
        <p:nvSpPr>
          <p:cNvPr id="12" name="Collaborators panel"/>
          <p:cNvSpPr/>
          <p:nvPr/>
        </p:nvSpPr>
        <p:spPr>
          <a:xfrm>
            <a:off x="9144000" y="2377440"/>
            <a:ext cx="2286000" cy="36576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3" name="Collaborators heading"/>
          <p:cNvSpPr txBox="1"/>
          <p:nvPr/>
        </p:nvSpPr>
        <p:spPr>
          <a:xfrm>
            <a:off x="932688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Collaborators</a:t>
            </a:r>
            <a:endParaRPr lang="en-US" sz="2000" dirty="0"/>
          </a:p>
        </p:txBody>
      </p:sp>
      <p:sp>
        <p:nvSpPr>
          <p:cNvPr id="14" name="Collaborators"/>
          <p:cNvSpPr txBox="1"/>
          <p:nvPr/>
        </p:nvSpPr>
        <p:spPr>
          <a:xfrm>
            <a:off x="9326880" y="2971800"/>
            <a:ext cx="1920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AuthGuard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MonthLoader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TemperaturePoint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5669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MonthLoader</a:t>
            </a:r>
            <a:endParaRPr lang="en-US" sz="3600" dirty="0"/>
          </a:p>
        </p:txBody>
      </p:sp>
      <p:sp>
        <p:nvSpPr>
          <p:cNvPr id="3" name="Layer tag"/>
          <p:cNvSpPr/>
          <p:nvPr/>
        </p:nvSpPr>
        <p:spPr>
          <a:xfrm>
            <a:off x="9829800" y="731520"/>
            <a:ext cx="1600200" cy="40233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Layer label"/>
          <p:cNvSpPr txBox="1"/>
          <p:nvPr/>
        </p:nvSpPr>
        <p:spPr>
          <a:xfrm>
            <a:off x="9829800" y="73152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Backend</a:t>
            </a:r>
            <a:endParaRPr lang="en-US" sz="1400" dirty="0"/>
          </a:p>
        </p:txBody>
      </p:sp>
      <p:sp>
        <p:nvSpPr>
          <p:cNvPr id="5" name="Source file"/>
          <p:cNvSpPr txBox="1"/>
          <p:nvPr/>
        </p:nvSpPr>
        <p:spPr>
          <a:xfrm>
            <a:off x="822960" y="131673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backend/routes/stac.js (loadMonth)</a:t>
            </a:r>
            <a:endParaRPr lang="en-US" sz="1200" dirty="0"/>
          </a:p>
        </p:txBody>
      </p:sp>
      <p:sp>
        <p:nvSpPr>
          <p:cNvPr id="6" name="Description"/>
          <p:cNvSpPr txBox="1"/>
          <p:nvPr/>
        </p:nvSpPr>
        <p:spPr>
          <a:xfrm>
            <a:off x="822960" y="168249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Gets one month of NOAA nClimGrid temperatures from Microsoft Planetary Computer.</a:t>
            </a:r>
            <a:endParaRPr lang="en-US" sz="1600" dirty="0"/>
          </a:p>
        </p:txBody>
      </p:sp>
      <p:sp>
        <p:nvSpPr>
          <p:cNvPr id="7" name="Responsibilities heading"/>
          <p:cNvSpPr txBox="1"/>
          <p:nvPr/>
        </p:nvSpPr>
        <p:spPr>
          <a:xfrm>
            <a:off x="822960" y="2377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Responsibilities</a:t>
            </a:r>
            <a:endParaRPr lang="en-US" sz="2000" dirty="0"/>
          </a:p>
        </p:txBody>
      </p:sp>
      <p:sp>
        <p:nvSpPr>
          <p:cNvPr id="8" name="Knows heading"/>
          <p:cNvSpPr txBox="1"/>
          <p:nvPr/>
        </p:nvSpPr>
        <p:spPr>
          <a:xfrm>
            <a:off x="822960" y="28163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Knows</a:t>
            </a:r>
            <a:endParaRPr lang="en-US" sz="1400" dirty="0"/>
          </a:p>
        </p:txBody>
      </p:sp>
      <p:sp>
        <p:nvSpPr>
          <p:cNvPr id="9" name="Knows"/>
          <p:cNvSpPr txBox="1"/>
          <p:nvPr/>
        </p:nvSpPr>
        <p:spPr>
          <a:xfrm>
            <a:off x="822960" y="3127248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catalog search address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collection = noaa-nclimgrid-monthly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asset = tavg (average temperature)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boundingBox: West Virginia's west, south, east, north</a:t>
            </a:r>
            <a:endParaRPr lang="en-US" sz="1400" dirty="0"/>
          </a:p>
        </p:txBody>
      </p:sp>
      <p:sp>
        <p:nvSpPr>
          <p:cNvPr id="10" name="Does heading"/>
          <p:cNvSpPr txBox="1"/>
          <p:nvPr/>
        </p:nvSpPr>
        <p:spPr>
          <a:xfrm>
            <a:off x="4617720" y="281635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Does</a:t>
            </a:r>
            <a:endParaRPr lang="en-US" sz="1400" dirty="0"/>
          </a:p>
        </p:txBody>
      </p:sp>
      <p:sp>
        <p:nvSpPr>
          <p:cNvPr id="11" name="Does"/>
          <p:cNvSpPr txBox="1"/>
          <p:nvPr/>
        </p:nvSpPr>
        <p:spPr>
          <a:xfrm>
            <a:off x="4617720" y="3127248"/>
            <a:ext cx="4251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searchCatalog(month): finds the dataset item for the month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loadMonth(month): searches, signs, downloads, and reads the grid, then returns points (or none)</a:t>
            </a:r>
            <a:endParaRPr lang="en-US" sz="1400" dirty="0"/>
          </a:p>
        </p:txBody>
      </p:sp>
      <p:sp>
        <p:nvSpPr>
          <p:cNvPr id="12" name="Collaborators panel"/>
          <p:cNvSpPr/>
          <p:nvPr/>
        </p:nvSpPr>
        <p:spPr>
          <a:xfrm>
            <a:off x="9144000" y="2377440"/>
            <a:ext cx="2286000" cy="36576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3" name="Collaborators heading"/>
          <p:cNvSpPr txBox="1"/>
          <p:nvPr/>
        </p:nvSpPr>
        <p:spPr>
          <a:xfrm>
            <a:off x="932688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Collaborators</a:t>
            </a:r>
            <a:endParaRPr lang="en-US" sz="2000" dirty="0"/>
          </a:p>
        </p:txBody>
      </p:sp>
      <p:sp>
        <p:nvSpPr>
          <p:cNvPr id="14" name="Collaborators"/>
          <p:cNvSpPr txBox="1"/>
          <p:nvPr/>
        </p:nvSpPr>
        <p:spPr>
          <a:xfrm>
            <a:off x="9326880" y="2971800"/>
            <a:ext cx="1920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UrlSigner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TemperatureGrid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Microsoft Planetary Computer (external)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5669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UrlSigner</a:t>
            </a:r>
            <a:endParaRPr lang="en-US" sz="3600" dirty="0"/>
          </a:p>
        </p:txBody>
      </p:sp>
      <p:sp>
        <p:nvSpPr>
          <p:cNvPr id="3" name="Layer tag"/>
          <p:cNvSpPr/>
          <p:nvPr/>
        </p:nvSpPr>
        <p:spPr>
          <a:xfrm>
            <a:off x="9829800" y="731520"/>
            <a:ext cx="1600200" cy="40233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Layer label"/>
          <p:cNvSpPr txBox="1"/>
          <p:nvPr/>
        </p:nvSpPr>
        <p:spPr>
          <a:xfrm>
            <a:off x="9829800" y="73152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Backend</a:t>
            </a:r>
            <a:endParaRPr lang="en-US" sz="1400" dirty="0"/>
          </a:p>
        </p:txBody>
      </p:sp>
      <p:sp>
        <p:nvSpPr>
          <p:cNvPr id="5" name="Source file"/>
          <p:cNvSpPr txBox="1"/>
          <p:nvPr/>
        </p:nvSpPr>
        <p:spPr>
          <a:xfrm>
            <a:off x="822960" y="131673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backend/sign/sign.js</a:t>
            </a:r>
            <a:endParaRPr lang="en-US" sz="1200" dirty="0"/>
          </a:p>
        </p:txBody>
      </p:sp>
      <p:sp>
        <p:nvSpPr>
          <p:cNvPr id="6" name="Description"/>
          <p:cNvSpPr txBox="1"/>
          <p:nvPr/>
        </p:nvSpPr>
        <p:spPr>
          <a:xfrm>
            <a:off x="822960" y="168249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Turns a Planetary Computer file address into one that can be downloaded.</a:t>
            </a:r>
            <a:endParaRPr lang="en-US" sz="1600" dirty="0"/>
          </a:p>
        </p:txBody>
      </p:sp>
      <p:sp>
        <p:nvSpPr>
          <p:cNvPr id="7" name="Responsibilities heading"/>
          <p:cNvSpPr txBox="1"/>
          <p:nvPr/>
        </p:nvSpPr>
        <p:spPr>
          <a:xfrm>
            <a:off x="822960" y="2377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Responsibilities</a:t>
            </a:r>
            <a:endParaRPr lang="en-US" sz="2000" dirty="0"/>
          </a:p>
        </p:txBody>
      </p:sp>
      <p:sp>
        <p:nvSpPr>
          <p:cNvPr id="8" name="Knows heading"/>
          <p:cNvSpPr txBox="1"/>
          <p:nvPr/>
        </p:nvSpPr>
        <p:spPr>
          <a:xfrm>
            <a:off x="822960" y="28163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Knows</a:t>
            </a:r>
            <a:endParaRPr lang="en-US" sz="1400" dirty="0"/>
          </a:p>
        </p:txBody>
      </p:sp>
      <p:sp>
        <p:nvSpPr>
          <p:cNvPr id="9" name="Knows"/>
          <p:cNvSpPr txBox="1"/>
          <p:nvPr/>
        </p:nvSpPr>
        <p:spPr>
          <a:xfrm>
            <a:off x="822960" y="3127248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signing service's address</a:t>
            </a:r>
            <a:endParaRPr lang="en-US" sz="1400" dirty="0"/>
          </a:p>
        </p:txBody>
      </p:sp>
      <p:sp>
        <p:nvSpPr>
          <p:cNvPr id="10" name="Does heading"/>
          <p:cNvSpPr txBox="1"/>
          <p:nvPr/>
        </p:nvSpPr>
        <p:spPr>
          <a:xfrm>
            <a:off x="4617720" y="281635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Does</a:t>
            </a:r>
            <a:endParaRPr lang="en-US" sz="1400" dirty="0"/>
          </a:p>
        </p:txBody>
      </p:sp>
      <p:sp>
        <p:nvSpPr>
          <p:cNvPr id="11" name="Does"/>
          <p:cNvSpPr txBox="1"/>
          <p:nvPr/>
        </p:nvSpPr>
        <p:spPr>
          <a:xfrm>
            <a:off x="4617720" y="3127248"/>
            <a:ext cx="4251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sign(url): returns the address with a short-lived access token (SAS) added, or fails</a:t>
            </a:r>
            <a:endParaRPr lang="en-US" sz="1400" dirty="0"/>
          </a:p>
        </p:txBody>
      </p:sp>
      <p:sp>
        <p:nvSpPr>
          <p:cNvPr id="12" name="Collaborators panel"/>
          <p:cNvSpPr/>
          <p:nvPr/>
        </p:nvSpPr>
        <p:spPr>
          <a:xfrm>
            <a:off x="9144000" y="2377440"/>
            <a:ext cx="2286000" cy="36576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3" name="Collaborators heading"/>
          <p:cNvSpPr txBox="1"/>
          <p:nvPr/>
        </p:nvSpPr>
        <p:spPr>
          <a:xfrm>
            <a:off x="932688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Collaborators</a:t>
            </a:r>
            <a:endParaRPr lang="en-US" sz="2000" dirty="0"/>
          </a:p>
        </p:txBody>
      </p:sp>
      <p:sp>
        <p:nvSpPr>
          <p:cNvPr id="14" name="Collaborators"/>
          <p:cNvSpPr txBox="1"/>
          <p:nvPr/>
        </p:nvSpPr>
        <p:spPr>
          <a:xfrm>
            <a:off x="9326880" y="2971800"/>
            <a:ext cx="1920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MonthLoader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Microsoft Planetary Computer (external)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5669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TemperatureGrid</a:t>
            </a:r>
            <a:endParaRPr lang="en-US" sz="3600" dirty="0"/>
          </a:p>
        </p:txBody>
      </p:sp>
      <p:sp>
        <p:nvSpPr>
          <p:cNvPr id="3" name="Layer tag"/>
          <p:cNvSpPr/>
          <p:nvPr/>
        </p:nvSpPr>
        <p:spPr>
          <a:xfrm>
            <a:off x="9829800" y="731520"/>
            <a:ext cx="1600200" cy="40233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Layer label"/>
          <p:cNvSpPr txBox="1"/>
          <p:nvPr/>
        </p:nvSpPr>
        <p:spPr>
          <a:xfrm>
            <a:off x="9829800" y="73152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Backend</a:t>
            </a:r>
            <a:endParaRPr lang="en-US" sz="1400" dirty="0"/>
          </a:p>
        </p:txBody>
      </p:sp>
      <p:sp>
        <p:nvSpPr>
          <p:cNvPr id="5" name="Source file"/>
          <p:cNvSpPr txBox="1"/>
          <p:nvPr/>
        </p:nvSpPr>
        <p:spPr>
          <a:xfrm>
            <a:off x="822960" y="131673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backend/routes/stac.js (readGrid, samplePoints)</a:t>
            </a:r>
            <a:endParaRPr lang="en-US" sz="1200" dirty="0"/>
          </a:p>
        </p:txBody>
      </p:sp>
      <p:sp>
        <p:nvSpPr>
          <p:cNvPr id="6" name="Description"/>
          <p:cNvSpPr txBox="1"/>
          <p:nvPr/>
        </p:nvSpPr>
        <p:spPr>
          <a:xfrm>
            <a:off x="822960" y="168249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block of grid cells covering West Virginia, read from one GeoTIFF file.</a:t>
            </a:r>
            <a:endParaRPr lang="en-US" sz="1600" dirty="0"/>
          </a:p>
        </p:txBody>
      </p:sp>
      <p:sp>
        <p:nvSpPr>
          <p:cNvPr id="7" name="Responsibilities heading"/>
          <p:cNvSpPr txBox="1"/>
          <p:nvPr/>
        </p:nvSpPr>
        <p:spPr>
          <a:xfrm>
            <a:off x="822960" y="2377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Responsibilities</a:t>
            </a:r>
            <a:endParaRPr lang="en-US" sz="2000" dirty="0"/>
          </a:p>
        </p:txBody>
      </p:sp>
      <p:sp>
        <p:nvSpPr>
          <p:cNvPr id="8" name="Knows heading"/>
          <p:cNvSpPr txBox="1"/>
          <p:nvPr/>
        </p:nvSpPr>
        <p:spPr>
          <a:xfrm>
            <a:off x="822960" y="28163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Knows</a:t>
            </a:r>
            <a:endParaRPr lang="en-US" sz="1400" dirty="0"/>
          </a:p>
        </p:txBody>
      </p:sp>
      <p:sp>
        <p:nvSpPr>
          <p:cNvPr id="9" name="Knows"/>
          <p:cNvSpPr txBox="1"/>
          <p:nvPr/>
        </p:nvSpPr>
        <p:spPr>
          <a:xfrm>
            <a:off x="822960" y="3127248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values: the cell temperatures in °C, row by row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width, height: size of the block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west, north: its top-left corner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pixelWidth, pixelHeight: cell size in degrees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noData: the value meaning "no measurement"</a:t>
            </a:r>
            <a:endParaRPr lang="en-US" sz="1400" dirty="0"/>
          </a:p>
        </p:txBody>
      </p:sp>
      <p:sp>
        <p:nvSpPr>
          <p:cNvPr id="10" name="Does heading"/>
          <p:cNvSpPr txBox="1"/>
          <p:nvPr/>
        </p:nvSpPr>
        <p:spPr>
          <a:xfrm>
            <a:off x="4617720" y="281635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Does</a:t>
            </a:r>
            <a:endParaRPr lang="en-US" sz="1400" dirty="0"/>
          </a:p>
        </p:txBody>
      </p:sp>
      <p:sp>
        <p:nvSpPr>
          <p:cNvPr id="11" name="Does"/>
          <p:cNvSpPr txBox="1"/>
          <p:nvPr/>
        </p:nvSpPr>
        <p:spPr>
          <a:xfrm>
            <a:off x="4617720" y="3127248"/>
            <a:ext cx="4251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readWindow(file, boundingBox): reads only the cells inside the box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toPoints(boundingBox): turns each cell with data into a point at the cell's center (at most 10,000)</a:t>
            </a:r>
            <a:endParaRPr lang="en-US" sz="1400" dirty="0"/>
          </a:p>
        </p:txBody>
      </p:sp>
      <p:sp>
        <p:nvSpPr>
          <p:cNvPr id="12" name="Collaborators panel"/>
          <p:cNvSpPr/>
          <p:nvPr/>
        </p:nvSpPr>
        <p:spPr>
          <a:xfrm>
            <a:off x="9144000" y="2377440"/>
            <a:ext cx="2286000" cy="36576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3" name="Collaborators heading"/>
          <p:cNvSpPr txBox="1"/>
          <p:nvPr/>
        </p:nvSpPr>
        <p:spPr>
          <a:xfrm>
            <a:off x="932688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Collaborators</a:t>
            </a:r>
            <a:endParaRPr lang="en-US" sz="2000" dirty="0"/>
          </a:p>
        </p:txBody>
      </p:sp>
      <p:sp>
        <p:nvSpPr>
          <p:cNvPr id="14" name="Collaborators"/>
          <p:cNvSpPr txBox="1"/>
          <p:nvPr/>
        </p:nvSpPr>
        <p:spPr>
          <a:xfrm>
            <a:off x="9326880" y="2971800"/>
            <a:ext cx="1920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MonthLoader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TemperaturePoint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5669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TemperaturePoint</a:t>
            </a:r>
            <a:endParaRPr lang="en-US" sz="3600" dirty="0"/>
          </a:p>
        </p:txBody>
      </p:sp>
      <p:sp>
        <p:nvSpPr>
          <p:cNvPr id="3" name="Layer tag"/>
          <p:cNvSpPr/>
          <p:nvPr/>
        </p:nvSpPr>
        <p:spPr>
          <a:xfrm>
            <a:off x="9829800" y="731520"/>
            <a:ext cx="1600200" cy="40233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Layer label"/>
          <p:cNvSpPr txBox="1"/>
          <p:nvPr/>
        </p:nvSpPr>
        <p:spPr>
          <a:xfrm>
            <a:off x="9829800" y="73152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Backend</a:t>
            </a:r>
            <a:endParaRPr lang="en-US" sz="1400" dirty="0"/>
          </a:p>
        </p:txBody>
      </p:sp>
      <p:sp>
        <p:nvSpPr>
          <p:cNvPr id="5" name="Source file"/>
          <p:cNvSpPr txBox="1"/>
          <p:nvPr/>
        </p:nvSpPr>
        <p:spPr>
          <a:xfrm>
            <a:off x="822960" y="131673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objects returned by GET /temperature/:date</a:t>
            </a:r>
            <a:endParaRPr lang="en-US" sz="1200" dirty="0"/>
          </a:p>
        </p:txBody>
      </p:sp>
      <p:sp>
        <p:nvSpPr>
          <p:cNvPr id="6" name="Description"/>
          <p:cNvSpPr txBox="1"/>
          <p:nvPr/>
        </p:nvSpPr>
        <p:spPr>
          <a:xfrm>
            <a:off x="822960" y="168249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One grid cell's location and average temperature, ready to draw.</a:t>
            </a:r>
            <a:endParaRPr lang="en-US" sz="1600" dirty="0"/>
          </a:p>
        </p:txBody>
      </p:sp>
      <p:sp>
        <p:nvSpPr>
          <p:cNvPr id="7" name="Responsibilities heading"/>
          <p:cNvSpPr txBox="1"/>
          <p:nvPr/>
        </p:nvSpPr>
        <p:spPr>
          <a:xfrm>
            <a:off x="822960" y="2377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Responsibilities</a:t>
            </a:r>
            <a:endParaRPr lang="en-US" sz="2000" dirty="0"/>
          </a:p>
        </p:txBody>
      </p:sp>
      <p:sp>
        <p:nvSpPr>
          <p:cNvPr id="8" name="Knows heading"/>
          <p:cNvSpPr txBox="1"/>
          <p:nvPr/>
        </p:nvSpPr>
        <p:spPr>
          <a:xfrm>
            <a:off x="822960" y="28163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Knows</a:t>
            </a:r>
            <a:endParaRPr lang="en-US" sz="1400" dirty="0"/>
          </a:p>
        </p:txBody>
      </p:sp>
      <p:sp>
        <p:nvSpPr>
          <p:cNvPr id="9" name="Knows"/>
          <p:cNvSpPr txBox="1"/>
          <p:nvPr/>
        </p:nvSpPr>
        <p:spPr>
          <a:xfrm>
            <a:off x="822960" y="3127248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lat, lon: the cell's center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tavg: average temperature in °F</a:t>
            </a:r>
            <a:endParaRPr lang="en-US" sz="1400" dirty="0"/>
          </a:p>
        </p:txBody>
      </p:sp>
      <p:sp>
        <p:nvSpPr>
          <p:cNvPr id="10" name="Does heading"/>
          <p:cNvSpPr txBox="1"/>
          <p:nvPr/>
        </p:nvSpPr>
        <p:spPr>
          <a:xfrm>
            <a:off x="4617720" y="281635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Does</a:t>
            </a:r>
            <a:endParaRPr lang="en-US" sz="1400" dirty="0"/>
          </a:p>
        </p:txBody>
      </p:sp>
      <p:sp>
        <p:nvSpPr>
          <p:cNvPr id="11" name="Does"/>
          <p:cNvSpPr txBox="1"/>
          <p:nvPr/>
        </p:nvSpPr>
        <p:spPr>
          <a:xfrm>
            <a:off x="4617720" y="3127248"/>
            <a:ext cx="4251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fromCelsius(lat, lon, celsius): creates a point, converting °C to °F</a:t>
            </a:r>
            <a:endParaRPr lang="en-US" sz="1400" dirty="0"/>
          </a:p>
        </p:txBody>
      </p:sp>
      <p:sp>
        <p:nvSpPr>
          <p:cNvPr id="12" name="Collaborators panel"/>
          <p:cNvSpPr/>
          <p:nvPr/>
        </p:nvSpPr>
        <p:spPr>
          <a:xfrm>
            <a:off x="9144000" y="2377440"/>
            <a:ext cx="2286000" cy="36576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3" name="Collaborators heading"/>
          <p:cNvSpPr txBox="1"/>
          <p:nvPr/>
        </p:nvSpPr>
        <p:spPr>
          <a:xfrm>
            <a:off x="932688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Collaborators</a:t>
            </a:r>
            <a:endParaRPr lang="en-US" sz="2000" dirty="0"/>
          </a:p>
        </p:txBody>
      </p:sp>
      <p:sp>
        <p:nvSpPr>
          <p:cNvPr id="14" name="Collaborators"/>
          <p:cNvSpPr txBox="1"/>
          <p:nvPr/>
        </p:nvSpPr>
        <p:spPr>
          <a:xfrm>
            <a:off x="9326880" y="2971800"/>
            <a:ext cx="1920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TemperatureGrid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TemperatureMap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xPostForecast CRC">
  <a:themeElements>
    <a:clrScheme name="xPostForecast CRC">
      <a:dk1>
        <a:srgbClr val="1F2A33"/>
      </a:dk1>
      <a:lt1>
        <a:srgbClr val="FFFFFF"/>
      </a:lt1>
      <a:dk2>
        <a:srgbClr val="23465E"/>
      </a:dk2>
      <a:lt2>
        <a:srgbClr val="EEF2F5"/>
      </a:lt2>
      <a:accent1>
        <a:srgbClr val="2E6F8E"/>
      </a:accent1>
      <a:accent2>
        <a:srgbClr val="B5452F"/>
      </a:accent2>
      <a:accent3>
        <a:srgbClr val="E8A33D"/>
      </a:accent3>
      <a:accent4>
        <a:srgbClr val="5B8C5A"/>
      </a:accent4>
      <a:accent5>
        <a:srgbClr val="6B7C8A"/>
      </a:accent5>
      <a:accent6>
        <a:srgbClr val="DCE6EC"/>
      </a:accent6>
      <a:hlink>
        <a:srgbClr val="2E6F8E"/>
      </a:hlink>
      <a:folHlink>
        <a:srgbClr val="6B4E9B"/>
      </a:folHlink>
    </a:clrScheme>
    <a:fontScheme name="xPostForecast CRC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xPostForecast CRC Cards</dc:title>
  <dc:subject>PptxGenJS Presentation</dc:subject>
  <dc:creator>CS 330, West Virginia University</dc:creator>
  <cp:lastModifiedBy>CS 330, West Virginia University</cp:lastModifiedBy>
  <cp:revision>1</cp:revision>
  <dcterms:created xsi:type="dcterms:W3CDTF">2026-10-06T14:36:33Z</dcterms:created>
  <dcterms:modified xsi:type="dcterms:W3CDTF">2026-10-06T14:36:33Z</dcterms:modified>
</cp:coreProperties>
</file>